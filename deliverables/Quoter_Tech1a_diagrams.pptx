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ca5c54241348ad" /><Relationship Type="http://schemas.openxmlformats.org/officeDocument/2006/relationships/extended-properties" Target="/docProps/app.xml" Id="Rafadf5d2eb354be7" /><Relationship Type="http://schemas.openxmlformats.org/officeDocument/2006/relationships/officeDocument" Target="/ppt/presentation.xml" Id="R1e305a6f252a41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a664391ade45e1"/>
  </p:sldMasterIdLst>
  <p:notesMasterIdLst>
    <p:notesMasterId xmlns:r="http://schemas.openxmlformats.org/officeDocument/2006/relationships" r:id="R9abb1d1ea8184e44"/>
  </p:notesMasterIdLst>
  <p:sldIdLst>
    <p:sldId xmlns:r="http://schemas.openxmlformats.org/officeDocument/2006/relationships" id="256" r:id="R0510a7d79395485e"/>
    <p:sldId xmlns:r="http://schemas.openxmlformats.org/officeDocument/2006/relationships" id="257" r:id="Rca22fff8c3c8422b"/>
    <p:sldId xmlns:r="http://schemas.openxmlformats.org/officeDocument/2006/relationships" id="258" r:id="Rfde3b69964374224"/>
    <p:sldId xmlns:r="http://schemas.openxmlformats.org/officeDocument/2006/relationships" id="259" r:id="R0b6484f56a8149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4b9f6b325d4e3f" /><Relationship Type="http://schemas.openxmlformats.org/officeDocument/2006/relationships/slideMaster" Target="/ppt/slideMasters/slideMaster1.xml" Id="R39a664391ade45e1" /><Relationship Type="http://schemas.openxmlformats.org/officeDocument/2006/relationships/notesMaster" Target="/ppt/notesMasters/notesMaster1.xml" Id="R9abb1d1ea8184e44" /><Relationship Type="http://schemas.openxmlformats.org/officeDocument/2006/relationships/presProps" Target="/ppt/presProps.xml" Id="Rb9524dbefe7c4b08" /><Relationship Type="http://schemas.openxmlformats.org/officeDocument/2006/relationships/tableStyles" Target="/ppt/tableStyles.xml" Id="R443fe49fcc724139" /><Relationship Type="http://schemas.openxmlformats.org/officeDocument/2006/relationships/slide" Target="/ppt/slides/slide1.xml" Id="R0510a7d79395485e" /><Relationship Type="http://schemas.openxmlformats.org/officeDocument/2006/relationships/slide" Target="/ppt/slides/slide2.xml" Id="Rca22fff8c3c8422b" /><Relationship Type="http://schemas.openxmlformats.org/officeDocument/2006/relationships/slide" Target="/ppt/slides/slide3.xml" Id="Rfde3b69964374224" /><Relationship Type="http://schemas.openxmlformats.org/officeDocument/2006/relationships/slide" Target="/ppt/slides/slide4.xml" Id="R0b6484f56a8149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2249ac647744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77b7a0ce494273" /><Relationship Type="http://schemas.openxmlformats.org/officeDocument/2006/relationships/notesMaster" Target="/ppt/notesMasters/notesMaster1.xml" Id="R7229c7b4d8b249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530fa0843a4510" /><Relationship Type="http://schemas.openxmlformats.org/officeDocument/2006/relationships/notesMaster" Target="/ppt/notesMasters/notesMaster1.xml" Id="Rff79f8f7b84d4d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d9d52679be4742" /><Relationship Type="http://schemas.openxmlformats.org/officeDocument/2006/relationships/notesMaster" Target="/ppt/notesMasters/notesMaster1.xml" Id="R7eede31977ed42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927b4e16d7462d" /><Relationship Type="http://schemas.openxmlformats.org/officeDocument/2006/relationships/notesMaster" Target="/ppt/notesMasters/notesMaster1.xml" Id="Rdeba8e7d477d42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RFP Technical Challenge, pages 143-148.</a:t>
            </a:r>
          </a:p>
          <a:p xmlns:a="http://schemas.openxmlformats.org/drawingml/2006/main">
            <a:r>
              <a:t>- raw/Flow_Diagram_Technical_Challenge.pdf.</a:t>
            </a:r>
          </a:p>
          <a:p xmlns:a="http://schemas.openxmlformats.org/drawingml/2006/main">
            <a:r>
              <a:t>- deliverables/Quoter_Tech1a_cleanfile.csv and Quoter_Tech1a_itemmaster.csv.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raw/Flow_Diagram_Technical_Challenge.pdf.</a:t>
            </a:r>
          </a:p>
          <a:p xmlns:a="http://schemas.openxmlformats.org/drawingml/2006/main">
            <a:r>
              <a:t>- context/extracted/workflow_diagram_visual_notes.md.</a:t>
            </a:r>
          </a:p>
          <a:p xmlns:a="http://schemas.openxmlformats.org/drawingml/2006/main">
            <a:r>
              <a:t>- raw/Excel-data.xlsx data dictionary and cleanfile schema.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work/div-1.md.</a:t>
            </a:r>
          </a:p>
          <a:p xmlns:a="http://schemas.openxmlformats.org/drawingml/2006/main">
            <a:r>
              <a:t>- raw/Flow_Diagram_Technical_Challenge.pdf.</a:t>
            </a:r>
          </a:p>
          <a:p xmlns:a="http://schemas.openxmlformats.org/drawingml/2006/main">
            <a:r>
              <a:t>- RFP Technical Challenge, pages 143-148.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work/div-2.md.</a:t>
            </a:r>
          </a:p>
          <a:p xmlns:a="http://schemas.openxmlformats.org/drawingml/2006/main">
            <a:r>
              <a:t>- deliverables/Quoter_Tech1a_cleanfile.csv.</a:t>
            </a:r>
          </a:p>
          <a:p xmlns:a="http://schemas.openxmlformats.org/drawingml/2006/main">
            <a:r>
              <a:t>- deliverables/Quoter_Tech1a_itemmaster.csv.</a:t>
            </a:r>
          </a:p>
          <a:p xmlns:a="http://schemas.openxmlformats.org/drawingml/2006/main">
            <a:r>
              <a:t>- work/item_master_crosswalk.csv, transformation_log.csv, and human_review_queue.csv.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317f789a434c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df4486deca495d" /><Relationship Type="http://schemas.openxmlformats.org/officeDocument/2006/relationships/slideLayout" Target="/ppt/slideLayouts/slideLayout1.xml" Id="R545b2d289d2943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5b2d289d2943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4c4d0839a4149" /><Relationship Type="http://schemas.openxmlformats.org/officeDocument/2006/relationships/notesSlide" Target="/ppt/notesSlides/notesSlide1.xml" Id="R281e7a09828f45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aab454e41245b3" /><Relationship Type="http://schemas.openxmlformats.org/officeDocument/2006/relationships/notesSlide" Target="/ppt/notesSlides/notesSlide2.xml" Id="R6060777856c34c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9552288ba4a49" /><Relationship Type="http://schemas.openxmlformats.org/officeDocument/2006/relationships/notesSlide" Target="/ppt/notesSlides/notesSlide3.xml" Id="R3aaefbe7aab542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a7099af8f4745" /><Relationship Type="http://schemas.openxmlformats.org/officeDocument/2006/relationships/notesSlide" Target="/ppt/notesSlides/notesSlide4.xml" Id="Ra11d6fc59fe24e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7F97B4-18A8-4A1A-BA5B-DDE47388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TECHNICAL CHALLENGE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D66AD1-0D1F-47A7-947F-64CE4E26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8953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Hospital Supply Data and National Item Master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DBCD8B-B450-4B24-89E7-EB243A76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13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1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16D"/>
                </a:solidFill>
                <a:latin typeface="Arial"/>
                <a:ea typeface="Arial"/>
                <a:cs typeface="Arial"/>
              </a:rPr>
              <a:t>SV-2 Systems Resource Flow | DIV-1 Conceptual Data Model | DIV-2 Logical Data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95F73-3207-4BB9-8D46-B19AFA82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11277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Architecture reflects the supplied workflow and the generated 5,000-row cleanfile and 10-item national master.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5EAAC-AC1A-4166-A282-47F8933D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5,000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6D93D3-B830-4ABD-A7AE-7148379B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8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16D"/>
                </a:solidFill>
                <a:latin typeface="Arial"/>
                <a:ea typeface="Arial"/>
                <a:cs typeface="Arial"/>
              </a:rPr>
              <a:t>clean 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96733-CBE7-4779-A525-11FFB00C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09587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6BF1F-5207-43EF-8DCA-36C5AB7E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619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8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16D"/>
                </a:solidFill>
                <a:latin typeface="Arial"/>
                <a:ea typeface="Arial"/>
                <a:cs typeface="Arial"/>
              </a:rPr>
              <a:t>cleanfile fields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9C48A1-A4AC-46F8-ADDB-BDC4B3C4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9587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6E0F18-67C1-46E2-BF52-37350BE1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19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8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16D"/>
                </a:solidFill>
                <a:latin typeface="Arial"/>
                <a:ea typeface="Arial"/>
                <a:cs typeface="Arial"/>
              </a:rPr>
              <a:t>master fields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C6F7BD-6521-4E10-87BD-A0DB5824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09587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3,635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FF6585-C4D9-4929-9410-D2E40476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619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8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16D"/>
                </a:solidFill>
                <a:latin typeface="Arial"/>
                <a:ea typeface="Arial"/>
                <a:cs typeface="Arial"/>
              </a:rPr>
              <a:t>review records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8C538-5210-4C6F-8999-411B2699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76923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61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16D"/>
                </a:solidFill>
                <a:latin typeface="Arial"/>
                <a:ea typeface="Arial"/>
                <a:cs typeface="Arial"/>
              </a:rPr>
              <a:t>Quoter_Tech1a_diagrams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1E37C2-A4FE-4E11-8E9E-E584B17C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7692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61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1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02789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8185D9-AC1C-48C5-A6D1-AB487646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7498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SV-2 | SYSTEMS RESOURCE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D5364-DE0B-433A-83DF-748FD7AE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53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Clinical demand, inventory, and finance exchange governed resources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9CE99-6662-4926-9632-E20AB289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7692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61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16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0F93D-E939-424E-8E11-81073E1C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7D8D6-AC7C-4F9A-9FDE-74D1A00E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33500"/>
            <a:ext cx="101441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99DDE-10CC-423C-99C5-5047D6E9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33550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83372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EHR / Health Record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4E462-39C7-4CC9-8617-E99AEBDE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95600"/>
            <a:ext cx="101441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D26103-2794-4E83-B1F0-CDE16006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95650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EIMS / Inventory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4BDC64-7E2B-431A-988E-6D95346A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57700"/>
            <a:ext cx="101441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F88E2-C701-4954-B980-EE1B88C6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57750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FMS / Financial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5FEBF2-CC3E-4C86-AD75-F4E43702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76400"/>
            <a:ext cx="1571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Request patient supply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7389A5-67FC-4059-9E51-886D570F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676400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Use supply for patient care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B016A5-CA81-4B55-9AD9-0E8FF610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76400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Insurance payment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C55A4E-EB24-4EFC-BB34-1B42F219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5755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Check on-hand inventory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B10160-8C60-41CD-8160-C6213C03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2575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Retrieve supply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28E0E7-55ED-4B00-B32A-92E75063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5755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Receive and stock supply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B4BEB3-5A01-42AD-B5BA-5E4104E2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257550"/>
            <a:ext cx="1285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Reorder point reached?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25D092-9883-4C5C-BE6F-5FFD1EE6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196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Order supply / pay invoice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41D59F-9FF1-4C6A-B956-3308E021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196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Invoice insurer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9943B3-4FDD-4D34-8B1C-BC9EF7DC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19650"/>
            <a:ext cx="1571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Receive payment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4A096A-E601-4B31-A8EE-8B33B241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819650"/>
            <a:ext cx="1476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4288">
            <a:solidFill>
              <a:srgbClr val="B8BCC4"/>
            </a:solidFill>
            <a:prstDash val="dash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External supplier</a:t>
            </a:r>
          </a:p>
        </p:txBody>
      </p:sp>
      <p:cxnSp>
        <p:nvCxnSpPr>
          <p:cNvPr id="57" name=""/>
          <p:cNvCxnSpPr>
            <a:stCxn xmlns:a="http://schemas.openxmlformats.org/drawingml/2006/main" id="11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2500313" y="2266950"/>
            <a:ext cx="1928813" cy="990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8616D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8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238750" y="35528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16D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9" name=""/>
          <p:cNvCxnSpPr>
            <a:stCxn xmlns:a="http://schemas.openxmlformats.org/drawingml/2006/main" id="15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6286500" y="2266950"/>
            <a:ext cx="119063" cy="990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8616D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60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239000" y="19716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16D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61" name=""/>
          <p:cNvCxnSpPr>
            <a:stCxn xmlns:a="http://schemas.openxmlformats.org/drawingml/2006/main" id="13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8477250" y="2266950"/>
            <a:ext cx="71438" cy="2552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8616D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62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239250" y="51149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16D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63" name=""/>
          <p:cNvCxnSpPr>
            <a:stCxn xmlns:a="http://schemas.openxmlformats.org/drawingml/2006/main" id="14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4429125" y="3848100"/>
            <a:ext cx="95250" cy="971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8616D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64" name=""/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5429250" y="51149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16D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65" name=""/>
          <p:cNvCxnSpPr>
            <a:stCxn xmlns:a="http://schemas.openxmlformats.org/drawingml/2006/main" id="21" idx="0"/>
            <a:endCxn xmlns:a="http://schemas.openxmlformats.org/drawingml/2006/main" id="16" idx="2"/>
          </p:cNvCxnSpPr>
          <p:nvPr/>
        </p:nvCxnSpPr>
        <p:spPr>
          <a:xfrm xmlns:a="http://schemas.openxmlformats.org/drawingml/2006/main" flipV="1">
            <a:off x="6500813" y="3848100"/>
            <a:ext cx="2595563" cy="971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8616D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66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906000" y="35528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16D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DF5242-19BD-4376-B470-693453F6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099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1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616D"/>
                </a:solidFill>
                <a:latin typeface="Arial"/>
                <a:ea typeface="Arial"/>
                <a:cs typeface="Arial"/>
              </a:rPr>
              <a:t>available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B288DF-3744-46F3-B3A5-C0C57607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1052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1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616D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614A65-9C3D-419D-8401-2A1DE791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300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Reorder signal starts the next demand cycle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E59BDC-6BC9-4EC5-9353-A3CDD609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4360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61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16D"/>
                </a:solidFill>
                <a:latin typeface="Arial"/>
                <a:ea typeface="Arial"/>
                <a:cs typeface="Arial"/>
              </a:rPr>
              <a:t>Resource bindings: Hospital, item, PO, purchase date, order status, on-hand/order quantities, lot/batch, expiration, recall, vendor and price.</a:t>
            </a:r>
          </a:p>
        </p:txBody>
      </p:sp>
    </p:spTree>
    <p:extLst>
      <p:ext uri="{BB962C8B-B14F-4D97-AF65-F5344CB8AC3E}">
        <p14:creationId xmlns:p14="http://schemas.microsoft.com/office/powerpoint/2010/main" val="8263149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1C21F3-A519-44AE-8871-20721409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7488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DIV-1 | CONCEPTUAL DATA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E71EE-AA85-48FA-BB15-855731FC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A national item anchors operations, finance, and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ABEE6-7669-49D2-8A7D-419864C8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7692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61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16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DDC53B-192D-4080-ACFA-1F5FB108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0D6C7-33C7-4964-91C1-4DC9153E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43200"/>
            <a:ext cx="24288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14288">
            <a:solidFill>
              <a:srgbClr val="0B2545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Consumable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Supply Item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701B9-5F51-459C-84C0-31015ABD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152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Hospital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C886C9-8C68-4A0A-91F7-E5DCD580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17621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Patient Supply</a:t>
            </a:r>
          </a:p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853F78-D81E-4497-9873-BD8E6EE3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1762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Inventory Position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6ADEA8-13E1-48D7-BE81-BE66DACD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429125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Supply Demand</a:t>
            </a:r>
          </a:p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5992F5-E5FE-43F8-9C22-4600ADE8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762500"/>
            <a:ext cx="17621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Purchase /</a:t>
            </a:r>
          </a:p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Supply Order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1AD9D3-4B20-420F-BA45-EBB7E72E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762500"/>
            <a:ext cx="1476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Vendor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C7AC57-1FC7-497F-90C1-7ED84912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171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Supply Receipt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B5CCBE-2A27-45C7-A3D6-FF1D5A75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143250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Invoice / Payment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618586-F1AB-4826-AE41-AF4A2571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571625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4288">
            <a:solidFill>
              <a:srgbClr val="B8BCC4"/>
            </a:solidFill>
            <a:prstDash val="dash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Transformation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88DAF1-315B-42E9-AB6F-7E61138B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571625"/>
            <a:ext cx="1762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4288">
            <a:solidFill>
              <a:srgbClr val="B8BCC4"/>
            </a:solidFill>
            <a:prstDash val="dash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Governance Decision</a:t>
            </a:r>
          </a:p>
        </p:txBody>
      </p:sp>
      <p:cxnSp>
        <p:nvCxnSpPr>
          <p:cNvPr id="4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38375" y="19240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16D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46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476375" y="2228850"/>
            <a:ext cx="119063" cy="914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8616D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47" name=""/>
          <p:cNvCxnSpPr>
            <a:stCxn xmlns:a="http://schemas.openxmlformats.org/drawingml/2006/main" id="7" idx="3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4619625" y="1924050"/>
            <a:ext cx="1452563" cy="81915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58616D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48" name="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2476500" y="3243263"/>
            <a:ext cx="2381250" cy="2047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8616D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49" name=""/>
          <p:cNvCxnSpPr>
            <a:stCxn xmlns:a="http://schemas.openxmlformats.org/drawingml/2006/main" id="8" idx="2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595438" y="3752850"/>
            <a:ext cx="1214438" cy="1028700"/>
          </a:xfrm>
          <a:prstGeom xmlns:a="http://schemas.openxmlformats.org/drawingml/2006/main" prst="bentConnector5">
            <a:avLst>
              <a:gd name="adj1" fmla="val 0"/>
              <a:gd name="adj2" fmla="val 22222"/>
              <a:gd name="adj3" fmla="val 81176"/>
            </a:avLst>
          </a:prstGeom>
          <a:ln xmlns:a="http://schemas.openxmlformats.org/drawingml/2006/main" w="19050">
            <a:solidFill>
              <a:srgbClr val="58616D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619625" y="4781550"/>
            <a:ext cx="571500" cy="333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8616D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6953250" y="5067300"/>
            <a:ext cx="619125" cy="47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8616D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048750" y="50673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16D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3" name=""/>
          <p:cNvCxnSpPr>
            <a:stCxn xmlns:a="http://schemas.openxmlformats.org/drawingml/2006/main" id="10" idx="0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V="1">
            <a:off x="6072188" y="3752850"/>
            <a:ext cx="4238625" cy="1009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8616D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4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429750" y="18764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dash"/>
            <a:headEnd type="none" w="med" len="med"/>
            <a:tailEnd type="arrow" w="sm" len="sm"/>
          </a:ln>
        </p:spPr>
      </p:cxnSp>
      <p:cxnSp>
        <p:nvCxnSpPr>
          <p:cNvPr id="55" name=""/>
          <p:cNvCxnSpPr>
            <a:stCxn xmlns:a="http://schemas.openxmlformats.org/drawingml/2006/main" id="1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6072188" y="2181225"/>
            <a:ext cx="2428875" cy="5619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D8DFF"/>
            </a:solidFill>
            <a:prstDash val="dash"/>
            <a:headEnd type="none" w="med" len="med"/>
            <a:tailEnd type="arrow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68F0E4-C39F-4DCC-9E46-9EAF16DA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524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1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616D"/>
                </a:solidFill>
                <a:latin typeface="Arial"/>
                <a:ea typeface="Arial"/>
                <a:cs typeface="Arial"/>
              </a:rPr>
              <a:t>origination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6E7A38-8722-462E-B9C6-0F643674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2412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maps and governs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194DF9-CA8F-45BD-A254-7660D0B1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5312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61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16D"/>
                </a:solidFill>
                <a:latin typeface="Arial"/>
                <a:ea typeface="Arial"/>
                <a:cs typeface="Arial"/>
              </a:rPr>
              <a:t>Conceptual scope is system-agnostic. Patient and insurance events are represented only where the supplied workflow supports them.</a:t>
            </a:r>
          </a:p>
        </p:txBody>
      </p:sp>
    </p:spTree>
    <p:extLst>
      <p:ext uri="{BB962C8B-B14F-4D97-AF65-F5344CB8AC3E}">
        <p14:creationId xmlns:p14="http://schemas.microsoft.com/office/powerpoint/2010/main" val="20960570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D20B70-BDC3-4C9E-B95A-C82856B5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86711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DIV-2 | LOGICAL DATA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A371CD-C9DA-4659-99BD-CE1E98C6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Logical structures preserve every source record and its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6B6B5-0D79-4F17-944C-3066D3B6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7692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61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16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04097-531C-4A41-9C67-091978B8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80F5A-3637-45E8-BCE6-BA30CF51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23336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hospital_source_item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23 source fields</a:t>
            </a:r>
          </a:p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PK: SBRN</a:t>
            </a:r>
          </a:p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Hospital + local item no.</a:t>
            </a:r>
          </a:p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Item, vendor, inventory, order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763609-0FDB-4131-8074-ECDFBB3A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381125"/>
            <a:ext cx="2857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clean_supply_record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23 normalized source fields</a:t>
            </a:r>
          </a:p>
          <a:p xmlns:a="http://schemas.openxmlformats.org/drawingml/2006/main">
            <a:pPr algn="ctr">
              <a:defRPr sz="1425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+ NationalItemMasterId</a:t>
            </a:r>
          </a:p>
          <a:p xmlns:a="http://schemas.openxmlformats.org/drawingml/2006/main">
            <a:pPr algn="ctr">
              <a:defRPr sz="1425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+ DataQualityFlags</a:t>
            </a:r>
          </a:p>
          <a:p xmlns:a="http://schemas.openxmlformats.org/drawingml/2006/main">
            <a:pPr algn="ctr">
              <a:defRPr sz="1425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+ HumanReviewRequired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PK: SBRN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DD72A-73BF-4BF8-8BEE-0359872A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476375"/>
            <a:ext cx="29051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2545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national_item_master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15 fields</a:t>
            </a:r>
          </a:p>
          <a:p xmlns:a="http://schemas.openxmlformats.org/drawingml/2006/main">
            <a:pPr algn="ctr">
              <a:defRPr sz="135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PK: NationalItemMasterId</a:t>
            </a:r>
          </a:p>
          <a:p xmlns:a="http://schemas.openxmlformats.org/drawingml/2006/main">
            <a:pPr algn="ctr">
              <a:defRPr sz="135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Canonical item, UOM, class</a:t>
            </a:r>
          </a:p>
          <a:p xmlns:a="http://schemas.openxmlformats.org/drawingml/2006/main">
            <a:pPr algn="ctr">
              <a:defRPr sz="135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Manufacturers and vendors</a:t>
            </a:r>
          </a:p>
          <a:p xmlns:a="http://schemas.openxmlformats.org/drawingml/2006/main">
            <a:pPr algn="ctr">
              <a:defRPr sz="135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Price + inventory aggregates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7F3D7-07AA-4B77-B716-460DFA10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10125"/>
            <a:ext cx="2714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item_master_crosswalk</a:t>
            </a:r>
          </a:p>
          <a:p xmlns:a="http://schemas.openxmlformats.org/drawingml/2006/main">
            <a:pPr algn="ctr">
              <a:defRPr sz="12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SBRN + hospital item -&gt; national item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5A397C-79E6-434D-BEB7-4929FE79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6250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transformation_log</a:t>
            </a:r>
          </a:p>
          <a:p xmlns:a="http://schemas.openxmlformats.org/drawingml/2006/main">
            <a:pPr algn="ctr">
              <a:defRPr sz="12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SBRN | field | before | after |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345C38-0157-4D7B-BB15-ABA4DCE3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667250"/>
            <a:ext cx="24288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4288">
            <a:solidFill>
              <a:srgbClr val="B8BCC4"/>
            </a:solidFill>
            <a:prstDash val="dash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human_review_queue</a:t>
            </a:r>
          </a:p>
          <a:p xmlns:a="http://schemas.openxmlformats.org/drawingml/2006/main">
            <a:pPr algn="ctr">
              <a:defRPr sz="120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issue | owner | decision | status | SBRN</a:t>
            </a:r>
          </a:p>
        </p:txBody>
      </p: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57500" y="27622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16D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381750" y="276225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16D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1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4691063" y="4143375"/>
            <a:ext cx="261938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8616D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2" name="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4953000" y="4143375"/>
            <a:ext cx="2714625" cy="619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8616D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3" name=""/>
          <p:cNvCxnSpPr>
            <a:stCxn xmlns:a="http://schemas.openxmlformats.org/drawingml/2006/main" id="6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4953000" y="4143375"/>
            <a:ext cx="5453063" cy="523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D8DFF"/>
            </a:solidFill>
            <a:prstDash val="dash"/>
            <a:headEnd type="none" w="med" len="med"/>
            <a:tailEnd type="arrow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926FA-99C3-4652-A908-026899F8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717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3046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861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616D"/>
                </a:solidFill>
                <a:latin typeface="Arial"/>
                <a:ea typeface="Arial"/>
                <a:cs typeface="Arial"/>
              </a:rPr>
              <a:t>1:1 normalize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401EAD-0088-46D2-AF70-621F8B1D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717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861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616D"/>
                </a:solidFill>
                <a:latin typeface="Arial"/>
                <a:ea typeface="Arial"/>
                <a:cs typeface="Arial"/>
              </a:rPr>
              <a:t>many:1 map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CB0B54-C95C-4227-81E7-2067867B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000750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Audit structures are first-class logical records, not hidden implementation logs.</a:t>
            </a:r>
          </a:p>
        </p:txBody>
      </p:sp>
    </p:spTree>
    <p:extLst>
      <p:ext uri="{BB962C8B-B14F-4D97-AF65-F5344CB8AC3E}">
        <p14:creationId xmlns:p14="http://schemas.microsoft.com/office/powerpoint/2010/main" val="7233978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2026-08-30T17:38:05.0670000Z</dcterms:created>
  <dcterms:modified xsi:type="dcterms:W3CDTF">2026-08-30T17:38:05.0670000Z</dcterms:modified>
</coreProperties>
</file>