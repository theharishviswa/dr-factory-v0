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cc543d667742c8" /><Relationship Type="http://schemas.openxmlformats.org/officeDocument/2006/relationships/extended-properties" Target="/docProps/app.xml" Id="R8107267b3e864aa9" /><Relationship Type="http://schemas.openxmlformats.org/officeDocument/2006/relationships/officeDocument" Target="/ppt/presentation.xml" Id="R6dd8dea8d40648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73879b879f4ecb"/>
  </p:sldMasterIdLst>
  <p:notesMasterIdLst>
    <p:notesMasterId xmlns:r="http://schemas.openxmlformats.org/officeDocument/2006/relationships" r:id="Re97ca2c240fa46ab"/>
  </p:notesMasterIdLst>
  <p:sldIdLst>
    <p:sldId xmlns:r="http://schemas.openxmlformats.org/officeDocument/2006/relationships" id="256" r:id="Ra535ba0b56004fb8"/>
    <p:sldId xmlns:r="http://schemas.openxmlformats.org/officeDocument/2006/relationships" id="257" r:id="Ra0ce3d4ff8624f2a"/>
    <p:sldId xmlns:r="http://schemas.openxmlformats.org/officeDocument/2006/relationships" id="258" r:id="Rd5985924b7024992"/>
    <p:sldId xmlns:r="http://schemas.openxmlformats.org/officeDocument/2006/relationships" id="259" r:id="R85e668caa6cd43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fc7086d6354deb" /><Relationship Type="http://schemas.openxmlformats.org/officeDocument/2006/relationships/slideMaster" Target="/ppt/slideMasters/slideMaster1.xml" Id="R3473879b879f4ecb" /><Relationship Type="http://schemas.openxmlformats.org/officeDocument/2006/relationships/notesMaster" Target="/ppt/notesMasters/notesMaster1.xml" Id="Re97ca2c240fa46ab" /><Relationship Type="http://schemas.openxmlformats.org/officeDocument/2006/relationships/presProps" Target="/ppt/presProps.xml" Id="R9620bdc6b43d4b00" /><Relationship Type="http://schemas.openxmlformats.org/officeDocument/2006/relationships/tableStyles" Target="/ppt/tableStyles.xml" Id="R4fc4df9071e84855" /><Relationship Type="http://schemas.openxmlformats.org/officeDocument/2006/relationships/slide" Target="/ppt/slides/slide1.xml" Id="Ra535ba0b56004fb8" /><Relationship Type="http://schemas.openxmlformats.org/officeDocument/2006/relationships/slide" Target="/ppt/slides/slide2.xml" Id="Ra0ce3d4ff8624f2a" /><Relationship Type="http://schemas.openxmlformats.org/officeDocument/2006/relationships/slide" Target="/ppt/slides/slide3.xml" Id="Rd5985924b7024992" /><Relationship Type="http://schemas.openxmlformats.org/officeDocument/2006/relationships/slide" Target="/ppt/slides/slide4.xml" Id="R85e668caa6cd43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874853c9d743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21ec8d6e364455" /><Relationship Type="http://schemas.openxmlformats.org/officeDocument/2006/relationships/notesMaster" Target="/ppt/notesMasters/notesMaster1.xml" Id="R84e1d96df3b242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3b452b32804a66" /><Relationship Type="http://schemas.openxmlformats.org/officeDocument/2006/relationships/notesMaster" Target="/ppt/notesMasters/notesMaster1.xml" Id="Rfe1649404ac04e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f67407b5964caf" /><Relationship Type="http://schemas.openxmlformats.org/officeDocument/2006/relationships/notesMaster" Target="/ppt/notesMasters/notesMaster1.xml" Id="Ra7bbfc83c3dc44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57a097084e423a" /><Relationship Type="http://schemas.openxmlformats.org/officeDocument/2006/relationships/notesMaster" Target="/ppt/notesMasters/notesMaster1.xml" Id="Re2c9abb3df814d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RFP Technical Challenge, pages 143-148.</a:t>
            </a:r>
          </a:p>
          <a:p xmlns:a="http://schemas.openxmlformats.org/drawingml/2006/main">
            <a:r>
              <a:t>- raw/Flow_Diagram_Technical_Challenge.pdf.</a:t>
            </a:r>
          </a:p>
          <a:p xmlns:a="http://schemas.openxmlformats.org/drawingml/2006/main">
            <a:r>
              <a:t>- deliverables/Quoter_Tech1a_cleanfile.csv and Quoter_Tech1a_itemmaster.csv.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raw/Flow_Diagram_Technical_Challenge.pdf.</a:t>
            </a:r>
          </a:p>
          <a:p xmlns:a="http://schemas.openxmlformats.org/drawingml/2006/main">
            <a:r>
              <a:t>- context/extracted/workflow_diagram_visual_notes.md.</a:t>
            </a:r>
          </a:p>
          <a:p xmlns:a="http://schemas.openxmlformats.org/drawingml/2006/main">
            <a:r>
              <a:t>- raw/Excel-data.xlsx data dictionary and cleanfile schema.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work/div-1.md.</a:t>
            </a:r>
          </a:p>
          <a:p xmlns:a="http://schemas.openxmlformats.org/drawingml/2006/main">
            <a:r>
              <a:t>- raw/Flow_Diagram_Technical_Challenge.pdf.</a:t>
            </a:r>
          </a:p>
          <a:p xmlns:a="http://schemas.openxmlformats.org/drawingml/2006/main">
            <a:r>
              <a:t>- RFP Technical Challenge, pages 143-148.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work/div-2.md.</a:t>
            </a:r>
          </a:p>
          <a:p xmlns:a="http://schemas.openxmlformats.org/drawingml/2006/main">
            <a:r>
              <a:t>- deliverables/Quoter_Tech1a_cleanfile.csv.</a:t>
            </a:r>
          </a:p>
          <a:p xmlns:a="http://schemas.openxmlformats.org/drawingml/2006/main">
            <a:r>
              <a:t>- deliverables/Quoter_Tech1a_itemmaster.csv.</a:t>
            </a:r>
          </a:p>
          <a:p xmlns:a="http://schemas.openxmlformats.org/drawingml/2006/main">
            <a:r>
              <a:t>- work/item_master_crosswalk.csv, transformation_log.csv, and human_review_queue.csv.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ef16ad25b946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88e75c7c174044" /><Relationship Type="http://schemas.openxmlformats.org/officeDocument/2006/relationships/slideLayout" Target="/ppt/slideLayouts/slideLayout1.xml" Id="Rf0efb52c046541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efb52c046541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20f9ed01f4972" /><Relationship Type="http://schemas.openxmlformats.org/officeDocument/2006/relationships/notesSlide" Target="/ppt/notesSlides/notesSlide1.xml" Id="Rbc5c857f002841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aeeb7b64947e1" /><Relationship Type="http://schemas.openxmlformats.org/officeDocument/2006/relationships/notesSlide" Target="/ppt/notesSlides/notesSlide2.xml" Id="R7406e9e6a89e4c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90733dd804a1f" /><Relationship Type="http://schemas.openxmlformats.org/officeDocument/2006/relationships/notesSlide" Target="/ppt/notesSlides/notesSlide3.xml" Id="R92ac5951088842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d270b9f6ce41e9" /><Relationship Type="http://schemas.openxmlformats.org/officeDocument/2006/relationships/notesSlide" Target="/ppt/notesSlides/notesSlide4.xml" Id="R5a923ecf87e344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2FD51B-F561-459D-BC28-02D63708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TECHNICAL CHALLENGE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18B0F2-1FBC-47D6-B786-806912D7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8953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Hospital Supply Data and National Item Master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DD86A6-5A70-4441-9FD8-87645070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13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SV-2 Systems Resource Flow | DIV-1 Conceptual Data Model | DIV-2 Logical Data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5F3AA8-0D5F-4BC8-B3EB-2C98706C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1277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Architecture reflects the supplied workflow and the generated 5,000-row cleanfile and 10-item national master.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567EDC-B38D-4BD2-9B00-54494F3B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5,000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4BC4AC-633F-4383-83F5-6C515402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clean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A8E0B-B5A0-4241-A529-8F3AA8AC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09587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1250AE-3618-434A-82C7-61734D23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6197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cleanfile fields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E90E90-C5AE-43FB-B555-7214AB2B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9587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8AE05A-0309-472C-A505-DFCC5F3A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197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master fields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0CA059-AF0B-4B43-A0C1-A1F5E410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09587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3,549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EEDBF-92E4-4783-B5EE-5CF0DA9B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6197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review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6851F-C9D0-4122-8244-11070C9D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17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6923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Quoter_Tech1a_diagrams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40436-80CB-4DE9-8873-8D016E74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6923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098033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D8528E-EB67-43F4-823C-95A4045E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498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SV-2 | SYSTEMS RESOURCE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F8BA6-820E-4838-9D32-606F1222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53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95318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Clinical demand, inventory, and finance exchange governed resources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565C1-B7F8-4B65-87F5-90371029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6923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F29471-6A11-4807-86D4-79282C88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0F743-1966-43DC-9560-AA761C1A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333500"/>
            <a:ext cx="101441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C0372-873C-41F2-AEDC-A3CA9961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876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83372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EHR / Health Record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2D500D-0D7F-4D84-A11E-0AB9FB65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95600"/>
            <a:ext cx="101441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22E2CA-CDFE-4A5B-A353-5DE9E755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95650"/>
            <a:ext cx="876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EIMS / Inventory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740025-6293-446A-8792-26D5EFC5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101441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2CAD2-CA94-4EFF-9643-F23B2A06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57750"/>
            <a:ext cx="876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FMS / Financial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C4629-8F61-46EF-A51D-A84E3979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7640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Request patient supply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66D8F-1E0C-47E5-A785-0EE99226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6764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Use supply for patient care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94180E-AA89-4E85-8208-74008ADE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764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Insurance payment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7DC1D0-3924-4886-9E35-9901AD73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575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Check on-hand inventory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467729-CF94-4A41-9428-80648F0B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2575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Retrieve supply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631ED-1C5C-43AA-B1F9-7E16B9F7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575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Receive and stock supply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9F3A40-702C-48F9-8E01-92F8E8D9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325755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Reorder point reached?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583640-B66D-42E6-8D19-9E9BD59C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8196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Order supply / pay invoice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8C0B0E-49B8-4476-BF87-2AE48C09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196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Invoice insurer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E5202F-5E90-4E97-AC92-F6FC7A4F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81965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Receive payment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BE7658-9DFD-4B97-BDEC-99B0B531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81965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14288">
            <a:solidFill>
              <a:srgbClr val="B8BCC4"/>
            </a:solidFill>
            <a:prstDash val="dash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External supplier</a:t>
            </a:r>
          </a:p>
        </p:txBody>
      </p:sp>
      <p:cxnSp>
        <p:nvCxnSpPr>
          <p:cNvPr id="57" name=""/>
          <p:cNvCxnSpPr>
            <a:stCxn xmlns:a="http://schemas.openxmlformats.org/drawingml/2006/main" id="11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2500313" y="2266950"/>
            <a:ext cx="1928813" cy="990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238750" y="355282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9" name=""/>
          <p:cNvCxnSpPr>
            <a:stCxn xmlns:a="http://schemas.openxmlformats.org/drawingml/2006/main" id="15" idx="0"/>
            <a:endCxn xmlns:a="http://schemas.openxmlformats.org/drawingml/2006/main" id="12" idx="2"/>
          </p:cNvCxnSpPr>
          <p:nvPr/>
        </p:nvCxnSpPr>
        <p:spPr>
          <a:xfrm xmlns:a="http://schemas.openxmlformats.org/drawingml/2006/main" flipV="1">
            <a:off x="6286500" y="2266950"/>
            <a:ext cx="119063" cy="990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0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239000" y="19716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1" name=""/>
          <p:cNvCxnSpPr>
            <a:stCxn xmlns:a="http://schemas.openxmlformats.org/drawingml/2006/main" id="13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 flipH="1">
            <a:off x="8477250" y="2266950"/>
            <a:ext cx="71438" cy="2552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239250" y="51149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4429125" y="3848100"/>
            <a:ext cx="952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4" name=""/>
          <p:cNvCxnSpPr>
            <a:stCxn xmlns:a="http://schemas.openxmlformats.org/drawingml/2006/main" id="18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429250" y="511492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5" name=""/>
          <p:cNvCxnSpPr>
            <a:stCxn xmlns:a="http://schemas.openxmlformats.org/drawingml/2006/main" id="21" idx="0"/>
            <a:endCxn xmlns:a="http://schemas.openxmlformats.org/drawingml/2006/main" id="16" idx="2"/>
          </p:cNvCxnSpPr>
          <p:nvPr/>
        </p:nvCxnSpPr>
        <p:spPr>
          <a:xfrm xmlns:a="http://schemas.openxmlformats.org/drawingml/2006/main" flipV="1">
            <a:off x="6500813" y="3848100"/>
            <a:ext cx="2595563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6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906000" y="3552825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BEA019-24DD-4AA1-AC2C-C7213262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099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available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4E7837-2A70-4B03-B7B9-52E2C16A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1052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not available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243F8F-4DB3-4BA4-A3F9-413BB142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00500"/>
            <a:ext cx="2714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9300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Reorder signal starts the next demand cycle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0A8FF7-0AEA-454A-86FC-657DE2AB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4360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Resource bindings: Hospital, item, PO, purchase date, order status, on-hand/order quantities, lot/batch, expiration, recall, vendor and price.</a:t>
            </a:r>
          </a:p>
        </p:txBody>
      </p:sp>
    </p:spTree>
    <p:extLst>
      <p:ext uri="{BB962C8B-B14F-4D97-AF65-F5344CB8AC3E}">
        <p14:creationId xmlns:p14="http://schemas.microsoft.com/office/powerpoint/2010/main" val="11757515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1B9F67-27A5-45AD-BA18-9FFBD5F8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4882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DIV-1 | CONCEPTUAL DATA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4CC68-495D-4A47-A152-EA3A96AB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53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A national item anchors operations, finance, and governance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7B753A-F6D6-4409-95C0-9BE5A654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6923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257DB-70AA-444F-9D01-CD737509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D8554-EBCD-4BF2-BFA3-D5F8D7DE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43200"/>
            <a:ext cx="24288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14288">
            <a:solidFill>
              <a:srgbClr val="0B2545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Consumable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Supply Item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A15247-3DAC-4511-B51A-2552C418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19250"/>
            <a:ext cx="1524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Hospital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BE60F-7E75-459B-8F47-D6D9321A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71625"/>
            <a:ext cx="1762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Patient Supply</a:t>
            </a:r>
          </a:p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82CA75-CDE2-4465-BAFA-B9EBEB3A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43250"/>
            <a:ext cx="1762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Inventory 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3C199C-3854-422B-97F6-2829B3B1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429125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Supply Demand</a:t>
            </a:r>
          </a:p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7EF83C-22AA-4AF3-84F7-F20FBAFA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762500"/>
            <a:ext cx="1762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Purchase /</a:t>
            </a:r>
          </a:p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Supply Order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21118B-924B-4D63-A1E8-A2816BA3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62500"/>
            <a:ext cx="14763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Vendor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CCCB8-E0D8-47D5-B004-597EEF8A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62500"/>
            <a:ext cx="171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Supply Receipt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2D03DE-4F13-4CDA-8CA7-2345F4B9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143250"/>
            <a:ext cx="18573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Invoice / Payment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C84ED-E9DD-4A3B-9439-CF4E4D88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571625"/>
            <a:ext cx="18573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14288">
            <a:solidFill>
              <a:srgbClr val="B8BCC4"/>
            </a:solidFill>
            <a:prstDash val="dash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Transformation Rule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B7D627-08CF-4163-BC63-6A5E38B9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571625"/>
            <a:ext cx="1762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14288">
            <a:solidFill>
              <a:srgbClr val="B8BCC4"/>
            </a:solidFill>
            <a:prstDash val="dash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Governance Decision</a:t>
            </a:r>
          </a:p>
        </p:txBody>
      </p:sp>
      <p:cxnSp>
        <p:nvCxnSpPr>
          <p:cNvPr id="4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238375" y="1924050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476375" y="2228850"/>
            <a:ext cx="119063" cy="914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47" name=""/>
          <p:cNvCxnSpPr>
            <a:stCxn xmlns:a="http://schemas.openxmlformats.org/drawingml/2006/main" id="7" idx="3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4619625" y="1924050"/>
            <a:ext cx="1452563" cy="81915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48" name=""/>
          <p:cNvCxnSpPr>
            <a:stCxn xmlns:a="http://schemas.openxmlformats.org/drawingml/2006/main" id="8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476500" y="3243263"/>
            <a:ext cx="2381250" cy="2047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8" idx="2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1595438" y="3752850"/>
            <a:ext cx="1214438" cy="1028700"/>
          </a:xfrm>
          <a:prstGeom xmlns:a="http://schemas.openxmlformats.org/drawingml/2006/main" prst="bentConnector5">
            <a:avLst>
              <a:gd name="adj1" fmla="val 0"/>
              <a:gd name="adj2" fmla="val 22222"/>
              <a:gd name="adj3" fmla="val 81176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0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619625" y="4781550"/>
            <a:ext cx="571500" cy="333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6953250" y="5067300"/>
            <a:ext cx="619125" cy="47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2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9048750" y="50673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0" idx="0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6072188" y="3752850"/>
            <a:ext cx="4238625" cy="1009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429750" y="187642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dash"/>
            <a:headEnd type="none" w="med" len="me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1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6072188" y="2181225"/>
            <a:ext cx="2428875" cy="5619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3D8DFF"/>
            </a:solidFill>
            <a:prstDash val="dash"/>
            <a:headEnd type="none" w="med" len="med"/>
            <a:tailEnd type="arrow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FB851A-BEFA-45E1-AB3C-F39A8D27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524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origination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38EA9-674A-444C-AEA0-4ED67C5B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24125"/>
            <a:ext cx="1381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maps and governs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573CEE-89EE-4667-B3B9-90761AFB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531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Conceptual scope is system-agnostic. Patient and insurance events are represented only where the supplied workflow supports them.</a:t>
            </a:r>
          </a:p>
        </p:txBody>
      </p:sp>
    </p:spTree>
    <p:extLst>
      <p:ext uri="{BB962C8B-B14F-4D97-AF65-F5344CB8AC3E}">
        <p14:creationId xmlns:p14="http://schemas.microsoft.com/office/powerpoint/2010/main" val="7672721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E57A1F-836A-44E5-9FB0-760ACF25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86711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DIV-2 | LOGICAL DATA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5DBC2-8657-4026-973B-E527BC32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53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Logical structures preserve every source record and its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B59D9E-0982-45D6-9CD6-B60976FB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6923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4F9A8-C29A-497B-8FD8-D0C9BD13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66327-34DE-4930-8A2D-E9DAC526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19250"/>
            <a:ext cx="2333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hospital_source_item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23 source fields</a:t>
            </a:r>
          </a:p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PK: SBRN</a:t>
            </a:r>
          </a:p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Hospital + local item no.</a:t>
            </a:r>
          </a:p>
          <a:p xmlns:a="http://schemas.openxmlformats.org/drawingml/2006/main">
            <a:pPr algn="ctr">
              <a:defRPr sz="127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Item, vendor, inventory, order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58DE6-21E5-4B28-A9F7-5E65EF49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81125"/>
            <a:ext cx="2857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clean_supply_record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23 normalized source fields</a:t>
            </a:r>
          </a:p>
          <a:p xmlns:a="http://schemas.openxmlformats.org/drawingml/2006/main">
            <a:pPr algn="ctr">
              <a:defRPr sz="142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+ NationalItemMasterId</a:t>
            </a:r>
          </a:p>
          <a:p xmlns:a="http://schemas.openxmlformats.org/drawingml/2006/main">
            <a:pPr algn="ctr">
              <a:defRPr sz="142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+ DataQualityFlags</a:t>
            </a:r>
          </a:p>
          <a:p xmlns:a="http://schemas.openxmlformats.org/drawingml/2006/main">
            <a:pPr algn="ctr">
              <a:defRPr sz="142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+ HumanReviewRequired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PK: SBRN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64B14-589C-434E-BB3E-CF56E694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476375"/>
            <a:ext cx="29051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2545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national_item_master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15 fields</a:t>
            </a:r>
          </a:p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PK: NationalItemMasterId</a:t>
            </a:r>
          </a:p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Canonical item, UOM, class</a:t>
            </a:r>
          </a:p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Manufacturers and vendors</a:t>
            </a:r>
          </a:p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Price + inventory aggregates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2E170-FC9B-4CE3-92AC-624D1886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10125"/>
            <a:ext cx="2714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item_master_crosswalk</a:t>
            </a:r>
          </a:p>
          <a:p xmlns:a="http://schemas.openxmlformats.org/drawingml/2006/main">
            <a:pPr algn="ct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SBRN + hospital item -&gt; national item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DACDE5-2914-4EA3-B684-9BA0580E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762500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transformation_log</a:t>
            </a:r>
          </a:p>
          <a:p xmlns:a="http://schemas.openxmlformats.org/drawingml/2006/main">
            <a:pPr algn="ct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SBRN | field | before | after |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0C471-8FBE-47AF-94ED-2D05E26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667250"/>
            <a:ext cx="2428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14288">
            <a:solidFill>
              <a:srgbClr val="B8BCC4"/>
            </a:solidFill>
            <a:prstDash val="dash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human_review_queue</a:t>
            </a:r>
          </a:p>
          <a:p xmlns:a="http://schemas.openxmlformats.org/drawingml/2006/main">
            <a:pPr algn="ctr">
              <a:defRPr sz="120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issue | owner | decision | status | SBRN</a:t>
            </a:r>
          </a:p>
        </p:txBody>
      </p:sp>
      <p:cxnSp>
        <p:nvCxnSpPr>
          <p:cNvPr id="2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857500" y="276225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0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2762250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1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4691063" y="4143375"/>
            <a:ext cx="261938" cy="666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2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4953000" y="4143375"/>
            <a:ext cx="2714625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861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6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4953000" y="4143375"/>
            <a:ext cx="5453063" cy="5238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3D8DFF"/>
            </a:solidFill>
            <a:prstDash val="dash"/>
            <a:headEnd type="none" w="med" len="med"/>
            <a:tailEnd type="arrow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D4DC9D-A372-458E-B26B-47F8FB36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717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93046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1:1 normalize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F80AD2-93FC-42C0-976A-C1AD29405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717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61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D"/>
                </a:solidFill>
                <a:latin typeface="Arial"/>
                <a:ea typeface="Arial"/>
                <a:cs typeface="Arial"/>
              </a:rPr>
              <a:t>many:1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E06117-1B11-44FF-A9BA-76936C0C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600075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2545"/>
                </a:solidFill>
                <a:latin typeface="Arial"/>
                <a:ea typeface="Arial"/>
                <a:cs typeface="Arial"/>
              </a:rPr>
              <a:t>Audit structures are first-class logical records, not hidden implementation logs.</a:t>
            </a:r>
          </a:p>
        </p:txBody>
      </p:sp>
    </p:spTree>
    <p:extLst>
      <p:ext uri="{BB962C8B-B14F-4D97-AF65-F5344CB8AC3E}">
        <p14:creationId xmlns:p14="http://schemas.microsoft.com/office/powerpoint/2010/main" val="15402893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2026-08-21T15:52:14.6370000Z</dcterms:created>
  <dcterms:modified xsi:type="dcterms:W3CDTF">2026-08-21T15:52:14.6370000Z</dcterms:modified>
</coreProperties>
</file>